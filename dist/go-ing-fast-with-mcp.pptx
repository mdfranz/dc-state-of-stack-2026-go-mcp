
<file path=[Content_Types].xml><?xml version="1.0" encoding="utf-8"?>
<Types xmlns="http://schemas.openxmlformats.org/package/2006/content-types">
  <Default Extension="9hPaakL5EAFOfWaEDIV_mY9-zbzXBhhB7YanhG0mdvU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96"/>
    <p:restoredTop sz="94671"/>
  </p:normalViewPr>
  <p:slideViewPr>
    <p:cSldViewPr snapToGrid="0" snapToObjects="1">
      <p:cViewPr varScale="1">
        <p:scale>
          <a:sx n="85" d="100"/>
          <a:sy n="85" d="100"/>
        </p:scale>
        <p:origin x="184" y="19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C92C2-290B-6741-8923-862AFB133D2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F7330-33A2-0541-B47E-5E41EDEB8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43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F7330-33A2-0541-B47E-5E41EDEB89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12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modelcontextprotocol/go-sdk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9hPaakL5EAFOfWaEDIV_mY9-zbzXBhhB7YanhG0mdvU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stview.io/" TargetMode="External"/><Relationship Id="rId2" Type="http://schemas.openxmlformats.org/officeDocument/2006/relationships/hyperlink" Target="https://github.com/kenn-io/agentsview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pydantic.dev/logfire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mdfranz/dc-state-of-stack-2026-go-mcp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000" b="1" i="1" dirty="0">
                <a:solidFill>
                  <a:srgbClr val="191919"/>
                </a:solidFill>
                <a:latin typeface="Aptos"/>
              </a:rPr>
              <a:t>Go</a:t>
            </a:r>
            <a:r>
              <a:rPr sz="4000" b="1" dirty="0">
                <a:solidFill>
                  <a:srgbClr val="191919"/>
                </a:solidFill>
                <a:latin typeface="Aptos"/>
              </a:rPr>
              <a:t>-</a:t>
            </a:r>
            <a:r>
              <a:rPr sz="4000" b="1" dirty="0" err="1">
                <a:solidFill>
                  <a:srgbClr val="191919"/>
                </a:solidFill>
                <a:latin typeface="Aptos"/>
              </a:rPr>
              <a:t>ing</a:t>
            </a:r>
            <a:r>
              <a:rPr sz="4000" b="1" dirty="0">
                <a:solidFill>
                  <a:srgbClr val="191919"/>
                </a:solidFill>
                <a:latin typeface="Aptos"/>
              </a:rPr>
              <a:t> Fast with </a:t>
            </a:r>
            <a:r>
              <a:rPr sz="4000" b="1" u="sng" dirty="0">
                <a:solidFill>
                  <a:srgbClr val="191919"/>
                </a:solidFill>
                <a:latin typeface="Aptos"/>
              </a:rPr>
              <a:t>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7248968" cy="148194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 dirty="0">
                <a:solidFill>
                  <a:srgbClr val="5F5F5F"/>
                </a:solidFill>
                <a:latin typeface="Aptos"/>
              </a:rPr>
              <a:t>Rapid Development of </a:t>
            </a:r>
            <a:r>
              <a:rPr lang="en-US" sz="2400" b="0" dirty="0">
                <a:solidFill>
                  <a:srgbClr val="5F5F5F"/>
                </a:solidFill>
                <a:latin typeface="Aptos"/>
              </a:rPr>
              <a:t>Custom </a:t>
            </a:r>
            <a:r>
              <a:rPr sz="2400" b="0" dirty="0">
                <a:solidFill>
                  <a:srgbClr val="5F5F5F"/>
                </a:solidFill>
                <a:latin typeface="Aptos"/>
              </a:rPr>
              <a:t>MCP Servers </a:t>
            </a:r>
            <a:endParaRPr lang="en-US" sz="2400" dirty="0">
              <a:solidFill>
                <a:srgbClr val="5F5F5F"/>
              </a:solidFill>
              <a:latin typeface="Aptos"/>
            </a:endParaRPr>
          </a:p>
          <a:p>
            <a:pPr algn="l"/>
            <a:r>
              <a:rPr sz="2400" b="0" dirty="0">
                <a:solidFill>
                  <a:srgbClr val="5F5F5F"/>
                </a:solidFill>
                <a:latin typeface="Aptos"/>
              </a:rPr>
              <a:t>for Security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3091" y="5629394"/>
            <a:ext cx="4141326" cy="12790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US" sz="2400" b="0" dirty="0">
                <a:solidFill>
                  <a:srgbClr val="5F5F5F"/>
                </a:solidFill>
                <a:latin typeface="Aptos"/>
              </a:rPr>
              <a:t>Matt</a:t>
            </a:r>
            <a:r>
              <a:rPr sz="2400" b="0" dirty="0">
                <a:solidFill>
                  <a:srgbClr val="5F5F5F"/>
                </a:solidFill>
                <a:latin typeface="Aptos"/>
              </a:rPr>
              <a:t> Franz</a:t>
            </a:r>
            <a:r>
              <a:rPr lang="en-US" sz="2400" b="0" dirty="0">
                <a:solidFill>
                  <a:srgbClr val="5F5F5F"/>
                </a:solidFill>
                <a:latin typeface="Aptos"/>
              </a:rPr>
              <a:t>, Pydantic</a:t>
            </a:r>
          </a:p>
          <a:p>
            <a:pPr algn="l"/>
            <a:r>
              <a:rPr sz="2400" b="1" i="1" dirty="0">
                <a:solidFill>
                  <a:srgbClr val="5F5F5F"/>
                </a:solidFill>
                <a:latin typeface="Aptos"/>
              </a:rPr>
              <a:t>DC State of the Stack 2026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3A477DA6-C1E2-96D9-3DA3-64513C7D9F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16E8E8-33B2-5D65-883F-3D7D0A1BA8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12" t="16372" r="17174" b="4935"/>
          <a:stretch/>
        </p:blipFill>
        <p:spPr>
          <a:xfrm>
            <a:off x="8090216" y="2007813"/>
            <a:ext cx="3889829" cy="2842374"/>
          </a:xfrm>
          <a:prstGeom prst="rect">
            <a:avLst/>
          </a:prstGeom>
        </p:spPr>
      </p:pic>
      <p:pic>
        <p:nvPicPr>
          <p:cNvPr id="1028" name="Picture 4" descr="Pydantic · GitHub">
            <a:extLst>
              <a:ext uri="{FF2B5EF4-FFF2-40B4-BE49-F238E27FC236}">
                <a16:creationId xmlns:a16="http://schemas.microsoft.com/office/drawing/2014/main" id="{81599E2E-8EE5-C248-2517-77C5AC62B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629394"/>
            <a:ext cx="1112012" cy="111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C State of the Stack 2026 — Shipping Software in the Age of AI">
            <a:extLst>
              <a:ext uri="{FF2B5EF4-FFF2-40B4-BE49-F238E27FC236}">
                <a16:creationId xmlns:a16="http://schemas.microsoft.com/office/drawing/2014/main" id="{6CF1C9B7-55F4-222A-2298-EB232D0967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6" t="15830" r="70536" b="20078"/>
          <a:stretch/>
        </p:blipFill>
        <p:spPr bwMode="auto">
          <a:xfrm>
            <a:off x="0" y="5468211"/>
            <a:ext cx="1258585" cy="127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 dirty="0">
                <a:solidFill>
                  <a:srgbClr val="191919"/>
                </a:solidFill>
                <a:latin typeface="Aptos"/>
              </a:rPr>
              <a:t>During the next five minutes</a:t>
            </a:r>
            <a:r>
              <a:rPr lang="en-US" sz="2800" b="1" dirty="0">
                <a:solidFill>
                  <a:srgbClr val="191919"/>
                </a:solidFill>
                <a:latin typeface="Aptos"/>
              </a:rPr>
              <a:t> you will learn</a:t>
            </a:r>
            <a:r>
              <a:rPr sz="2800" b="1" dirty="0">
                <a:solidFill>
                  <a:srgbClr val="191919"/>
                </a:solidFill>
                <a:latin typeface="Aptos"/>
              </a:rPr>
              <a:t>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4702634" cy="50255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sz="2400" u="sng" dirty="0"/>
              <a:t>Why</a:t>
            </a:r>
            <a:r>
              <a:rPr sz="2400" dirty="0"/>
              <a:t> you should consider writing a custom MCP server for data-intensive platforms (SIEM, </a:t>
            </a:r>
            <a:r>
              <a:rPr lang="en-US" sz="2400" dirty="0"/>
              <a:t>EDR, </a:t>
            </a:r>
            <a:r>
              <a:rPr sz="2400" dirty="0"/>
              <a:t>observability)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endParaRPr lang="en-US" sz="2400" dirty="0"/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sz="2400" u="sng" dirty="0"/>
              <a:t>How</a:t>
            </a:r>
            <a:r>
              <a:rPr sz="2400" dirty="0"/>
              <a:t> to </a:t>
            </a:r>
            <a:r>
              <a:rPr sz="2400" i="1" dirty="0"/>
              <a:t>iteratively</a:t>
            </a:r>
            <a:r>
              <a:rPr sz="2400" dirty="0"/>
              <a:t> build, test, and run STDIO MCP servers</a:t>
            </a:r>
            <a:r>
              <a:rPr lang="en-US" sz="2400" dirty="0"/>
              <a:t> (and CLIs)</a:t>
            </a:r>
            <a:r>
              <a:rPr sz="2400" dirty="0"/>
              <a:t> for Python agents or Claude, Codex, </a:t>
            </a:r>
            <a:r>
              <a:rPr sz="2400" dirty="0" err="1"/>
              <a:t>OpenCod</a:t>
            </a:r>
            <a:r>
              <a:rPr lang="en-US" sz="2400" dirty="0" err="1"/>
              <a:t>e</a:t>
            </a:r>
            <a:r>
              <a:rPr lang="en-US" sz="2400" dirty="0"/>
              <a:t>, and more…</a:t>
            </a:r>
            <a:endParaRPr sz="2400" dirty="0"/>
          </a:p>
        </p:txBody>
      </p:sp>
      <p:sp>
        <p:nvSpPr>
          <p:cNvPr id="6" name="AutoShape 2" descr="Elastic NV - Wikipedia">
            <a:extLst>
              <a:ext uri="{FF2B5EF4-FFF2-40B4-BE49-F238E27FC236}">
                <a16:creationId xmlns:a16="http://schemas.microsoft.com/office/drawing/2014/main" id="{170F0675-A3E8-F1C4-3B4A-E2BF7CF623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logo light">
            <a:extLst>
              <a:ext uri="{FF2B5EF4-FFF2-40B4-BE49-F238E27FC236}">
                <a16:creationId xmlns:a16="http://schemas.microsoft.com/office/drawing/2014/main" id="{A6552617-FC86-469F-C631-4E9747E1D9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0" descr="logo light">
            <a:extLst>
              <a:ext uri="{FF2B5EF4-FFF2-40B4-BE49-F238E27FC236}">
                <a16:creationId xmlns:a16="http://schemas.microsoft.com/office/drawing/2014/main" id="{2FB815DA-8546-494F-102F-C9DB442995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2" descr="logo light">
            <a:extLst>
              <a:ext uri="{FF2B5EF4-FFF2-40B4-BE49-F238E27FC236}">
                <a16:creationId xmlns:a16="http://schemas.microsoft.com/office/drawing/2014/main" id="{143C4D92-547A-945B-FF64-ABE21915FB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55D876-C5C0-67B5-701F-2EC5FE4DA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121565"/>
            <a:ext cx="5408751" cy="4934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50"/>
    </mc:Choice>
    <mc:Fallback xmlns="">
      <p:transition advTm="15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Who am I?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1" y="1371600"/>
            <a:ext cx="5416005" cy="48894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i="1" dirty="0"/>
              <a:t>25+ years in Security and Infrastructure roles </a:t>
            </a:r>
            <a:r>
              <a:rPr lang="en-US" dirty="0"/>
              <a:t>(IC to Director-level)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Currently </a:t>
            </a:r>
            <a:r>
              <a:rPr dirty="0"/>
              <a:t>Security &amp; Compliance Lead</a:t>
            </a:r>
            <a:r>
              <a:rPr lang="en-US" dirty="0"/>
              <a:t> at </a:t>
            </a:r>
            <a:r>
              <a:rPr dirty="0"/>
              <a:t>Pydantic</a:t>
            </a:r>
            <a:endParaRPr lang="en-US" dirty="0"/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For the l</a:t>
            </a:r>
            <a:r>
              <a:rPr dirty="0"/>
              <a:t>ast 2.5 years</a:t>
            </a:r>
            <a:r>
              <a:rPr lang="en-US" dirty="0"/>
              <a:t>, I’ve been </a:t>
            </a:r>
            <a:r>
              <a:rPr dirty="0"/>
              <a:t>building blue-team security agents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sz="2200" dirty="0"/>
              <a:t>In 2026, I’ve built over a dozen MCP servers in Go, Python, and Rust 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sz="2200" dirty="0"/>
              <a:t>Love European/Canadian travel and read way too much military history (was SIGINT Analyst)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245E9E-8991-B1A1-464D-1AA32F423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714" y="4457858"/>
            <a:ext cx="2400077" cy="1803166"/>
          </a:xfrm>
          <a:prstGeom prst="rect">
            <a:avLst/>
          </a:prstGeom>
        </p:spPr>
      </p:pic>
      <p:pic>
        <p:nvPicPr>
          <p:cNvPr id="10" name="Picture 9" descr="A person standing next to a statue of a soldier&#10;&#10;AI-generated content may be incorrect.">
            <a:extLst>
              <a:ext uri="{FF2B5EF4-FFF2-40B4-BE49-F238E27FC236}">
                <a16:creationId xmlns:a16="http://schemas.microsoft.com/office/drawing/2014/main" id="{868092D8-3E30-D0CA-A907-26A547E387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-1734" b="21046"/>
          <a:stretch/>
        </p:blipFill>
        <p:spPr>
          <a:xfrm>
            <a:off x="6973713" y="2329877"/>
            <a:ext cx="2235199" cy="26070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124D2A-6734-13B4-0F7C-248DDAD1B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714" y="1322246"/>
            <a:ext cx="2266775" cy="2607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2800" b="1" dirty="0">
                <a:solidFill>
                  <a:srgbClr val="191919"/>
                </a:solidFill>
                <a:latin typeface="Aptos"/>
              </a:rPr>
              <a:t>MCP and its Discontents </a:t>
            </a:r>
            <a:endParaRPr sz="28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6402977" cy="49276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b="1" dirty="0"/>
              <a:t>Token burn </a:t>
            </a:r>
            <a:r>
              <a:rPr dirty="0"/>
              <a:t>— large JSON payloads overwhelming agent context</a:t>
            </a:r>
            <a:r>
              <a:rPr lang="en-US" dirty="0"/>
              <a:t> window</a:t>
            </a:r>
            <a:endParaRPr dirty="0"/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b="1" dirty="0"/>
              <a:t>Agent thrashing </a:t>
            </a:r>
            <a:r>
              <a:rPr dirty="0"/>
              <a:t>— hallucinated queries and API calls leading to agent delays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b="1" dirty="0"/>
              <a:t>Security</a:t>
            </a:r>
            <a:r>
              <a:rPr dirty="0"/>
              <a:t> — inherent vulnerabilities, RBAC challenges, and more</a:t>
            </a:r>
            <a:endParaRPr lang="en-US" dirty="0"/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i="1" dirty="0">
                <a:solidFill>
                  <a:srgbClr val="FF0000"/>
                </a:solidFill>
              </a:rPr>
              <a:t>Alternative approaches: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sz="2000" dirty="0"/>
              <a:t>CLIs called by coding agents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sz="2000" dirty="0"/>
              <a:t>Python code generation – processing and REST APIs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sz="2000" i="1" dirty="0">
                <a:solidFill>
                  <a:srgbClr val="FF0000"/>
                </a:solidFill>
              </a:rPr>
              <a:t>Where I find MCP still adds value: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sz="2000" dirty="0"/>
              <a:t>Optimized tool calls (and descriptions) and input/output query guardrails to monitor and proxy agent interactions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191919"/>
                </a:solidFill>
                <a:latin typeface="Aptos"/>
              </a:defRPr>
            </a:pPr>
            <a:endParaRPr lang="en-US" sz="2000" dirty="0"/>
          </a:p>
        </p:txBody>
      </p:sp>
      <p:pic>
        <p:nvPicPr>
          <p:cNvPr id="4098" name="Picture 2" descr="Uhtred Breaks Shield Wall | TikTok">
            <a:extLst>
              <a:ext uri="{FF2B5EF4-FFF2-40B4-BE49-F238E27FC236}">
                <a16:creationId xmlns:a16="http://schemas.microsoft.com/office/drawing/2014/main" id="{4EA63884-4BD4-14C6-113E-5AD391E1D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992" y="1775600"/>
            <a:ext cx="3638229" cy="363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 dirty="0">
                <a:solidFill>
                  <a:srgbClr val="191919"/>
                </a:solidFill>
                <a:latin typeface="Aptos"/>
              </a:rPr>
              <a:t>Why </a:t>
            </a:r>
            <a:r>
              <a:rPr lang="en-US" sz="2800" b="1" dirty="0">
                <a:solidFill>
                  <a:srgbClr val="191919"/>
                </a:solidFill>
                <a:latin typeface="Aptos"/>
              </a:rPr>
              <a:t>build </a:t>
            </a:r>
            <a:r>
              <a:rPr sz="2800" b="1" dirty="0">
                <a:solidFill>
                  <a:srgbClr val="191919"/>
                </a:solidFill>
                <a:latin typeface="Aptos"/>
              </a:rPr>
              <a:t>custom MCP</a:t>
            </a:r>
            <a:r>
              <a:rPr lang="en-US" sz="2800" b="1" dirty="0">
                <a:solidFill>
                  <a:srgbClr val="191919"/>
                </a:solidFill>
                <a:latin typeface="Aptos"/>
              </a:rPr>
              <a:t> servers</a:t>
            </a:r>
            <a:r>
              <a:rPr sz="2800" b="1" dirty="0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1" y="1371600"/>
            <a:ext cx="5227320" cy="51755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Issues using off the shelf MCP Servers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u="sng" dirty="0"/>
              <a:t>Minimal</a:t>
            </a:r>
            <a:r>
              <a:rPr u="sng" dirty="0"/>
              <a:t> logging or caching</a:t>
            </a:r>
            <a:r>
              <a:rPr dirty="0"/>
              <a:t> — </a:t>
            </a:r>
            <a:r>
              <a:rPr lang="en-US" dirty="0"/>
              <a:t>often </a:t>
            </a:r>
            <a:r>
              <a:rPr dirty="0"/>
              <a:t>black boxes</a:t>
            </a:r>
            <a:r>
              <a:rPr lang="en-US" dirty="0"/>
              <a:t>. 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191919"/>
                </a:solidFill>
                <a:latin typeface="Aptos"/>
              </a:defRPr>
            </a:pPr>
            <a:r>
              <a:rPr u="sng" dirty="0"/>
              <a:t>Generic tool calls</a:t>
            </a:r>
            <a:r>
              <a:rPr dirty="0"/>
              <a:t> — tuned for everyone, not your telemetry</a:t>
            </a:r>
            <a:r>
              <a:rPr lang="en-US" dirty="0"/>
              <a:t> or workflows</a:t>
            </a:r>
            <a:endParaRPr dirty="0"/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191919"/>
                </a:solidFill>
                <a:latin typeface="Aptos"/>
              </a:defRPr>
            </a:pPr>
            <a:r>
              <a:rPr u="sng" dirty="0"/>
              <a:t>Sketchy MCP marketplaces </a:t>
            </a:r>
            <a:r>
              <a:rPr dirty="0"/>
              <a:t>— do you really trust them with your </a:t>
            </a:r>
            <a:r>
              <a:rPr lang="en-US" dirty="0"/>
              <a:t> SIEM </a:t>
            </a:r>
            <a:r>
              <a:rPr dirty="0"/>
              <a:t>API keys?</a:t>
            </a:r>
            <a:endParaRPr lang="en-US" dirty="0"/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You probably need to learn the APIs (and data) to effectively create prompts, anyway… </a:t>
            </a:r>
          </a:p>
        </p:txBody>
      </p:sp>
      <p:pic>
        <p:nvPicPr>
          <p:cNvPr id="8" name="Picture 7" descr="A screenshot of a search engine&#10;&#10;AI-generated content may be incorrect.">
            <a:extLst>
              <a:ext uri="{FF2B5EF4-FFF2-40B4-BE49-F238E27FC236}">
                <a16:creationId xmlns:a16="http://schemas.microsoft.com/office/drawing/2014/main" id="{12E97806-1971-8C9E-70E6-91E8BCD69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968" y="1250900"/>
            <a:ext cx="5332912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Why Go?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599"/>
            <a:ext cx="5227320" cy="46823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Increased supply-chain risks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Bloated </a:t>
            </a:r>
            <a:r>
              <a:rPr dirty="0"/>
              <a:t>Python/JS dependencies</a:t>
            </a:r>
            <a:r>
              <a:rPr lang="en-US" dirty="0"/>
              <a:t> have slower startup-time 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Go compiles to  as a single cross-platform executable – choose features you bundle and how many tools. 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Faster iteration and simplicity than Rust—especially for Python developers.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Mature, cross-platform libraries with lots of options 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81F186-5154-C4B8-3010-7531FCF76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543" y="1167994"/>
            <a:ext cx="4013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A Go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7640320" cy="4767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Library Selection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Official Go SDK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https://github.com/modelcontextprotocol/go-sdk</a:t>
            </a:r>
            <a:r>
              <a:rPr lang="en-US" dirty="0"/>
              <a:t>) </a:t>
            </a:r>
            <a:endParaRPr dirty="0"/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Use SPF13 (</a:t>
            </a:r>
            <a:r>
              <a:rPr dirty="0"/>
              <a:t>Cobra</a:t>
            </a:r>
            <a:r>
              <a:rPr lang="en-US" dirty="0"/>
              <a:t>/</a:t>
            </a:r>
            <a:r>
              <a:rPr dirty="0"/>
              <a:t>Viper</a:t>
            </a:r>
            <a:r>
              <a:rPr lang="en-US" dirty="0"/>
              <a:t>/</a:t>
            </a:r>
            <a:r>
              <a:rPr lang="en-US" dirty="0" err="1"/>
              <a:t>pflag</a:t>
            </a:r>
            <a:r>
              <a:rPr lang="en-US" dirty="0"/>
              <a:t>) for command-line handling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Code Structure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103784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F5F5F"/>
                </a:solidFill>
                <a:latin typeface="Aptos"/>
              </a:rPr>
              <a:t>See GO-MCP-</a:t>
            </a:r>
            <a:r>
              <a:rPr sz="1500" b="0" dirty="0" err="1">
                <a:solidFill>
                  <a:srgbClr val="5F5F5F"/>
                </a:solidFill>
                <a:latin typeface="Aptos"/>
              </a:rPr>
              <a:t>GUIDE.md</a:t>
            </a:r>
            <a:endParaRPr sz="1500" b="0" dirty="0">
              <a:solidFill>
                <a:srgbClr val="5F5F5F"/>
              </a:solidFill>
              <a:latin typeface="Apto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8BAF5FE-E857-BB9F-6C8F-C659D05E8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171" y="3226750"/>
            <a:ext cx="1877920" cy="84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mcp icon and logo in PNG format">
            <a:extLst>
              <a:ext uri="{FF2B5EF4-FFF2-40B4-BE49-F238E27FC236}">
                <a16:creationId xmlns:a16="http://schemas.microsoft.com/office/drawing/2014/main" id="{48B5DA62-9207-BF0B-7371-485B8D48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8094" y="1340793"/>
            <a:ext cx="1143000" cy="1143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E2251F-FE54-B235-CEF3-809DDBD9A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54" y="4758356"/>
            <a:ext cx="1984266" cy="1508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Lessons — start with the CLI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33272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t>Build the CLI first — reuse a client library, or generate from Swagger/OpenAPI (worst case: HTML/PDF)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t>Explore the data — list / get / describe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t>Start with 3–5 tools — enough to learn the shape and the use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Lessons — instrument and iterate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33272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t>Instrument from day one — logging, observability, test coverage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t>Add an LLM harness — Pydantic AI against common queries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t>Explore, then specialize — let telemetry tell you the next tool to 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Testing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1" y="1371600"/>
            <a:ext cx="5227320" cy="485953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b="1" dirty="0"/>
              <a:t>Unit tests</a:t>
            </a:r>
            <a:r>
              <a:rPr dirty="0"/>
              <a:t> — </a:t>
            </a:r>
            <a:r>
              <a:rPr lang="en-US" dirty="0"/>
              <a:t>Both for </a:t>
            </a:r>
            <a:r>
              <a:rPr dirty="0"/>
              <a:t>CLI and MCP server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b="1" dirty="0"/>
              <a:t>Direct </a:t>
            </a:r>
            <a:r>
              <a:rPr b="1" dirty="0"/>
              <a:t>JSON-RPC</a:t>
            </a:r>
            <a:r>
              <a:rPr dirty="0"/>
              <a:t> smoke test — no LLM required</a:t>
            </a:r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b="1" dirty="0"/>
              <a:t>Pydantic AI </a:t>
            </a:r>
            <a:r>
              <a:rPr dirty="0"/>
              <a:t>harness — real tools</a:t>
            </a:r>
            <a:r>
              <a:rPr lang="en-US" dirty="0"/>
              <a:t> with a range of models.</a:t>
            </a:r>
            <a:endParaRPr dirty="0"/>
          </a:p>
          <a:p>
            <a:pPr>
              <a:spcAft>
                <a:spcPts val="15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lang="en-US" b="1" dirty="0"/>
              <a:t>Exploratory</a:t>
            </a:r>
            <a:r>
              <a:rPr lang="en-US" dirty="0"/>
              <a:t>  </a:t>
            </a:r>
            <a:r>
              <a:rPr dirty="0"/>
              <a:t>with Claude, Codex, </a:t>
            </a:r>
            <a:r>
              <a:rPr dirty="0" err="1"/>
              <a:t>OpenCode</a:t>
            </a:r>
            <a:r>
              <a:rPr dirty="0"/>
              <a:t>, etc.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The tool ladder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323176"/>
              </p:ext>
            </p:extLst>
          </p:nvPr>
        </p:nvGraphicFramePr>
        <p:xfrm>
          <a:off x="868680" y="1417320"/>
          <a:ext cx="6610294" cy="4112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9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567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Intent</a:t>
                      </a:r>
                    </a:p>
                  </a:txBody>
                  <a:tcPr marL="1097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Tool</a:t>
                      </a:r>
                    </a:p>
                  </a:txBody>
                  <a:tcPr marL="10972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Why</a:t>
                      </a:r>
                    </a:p>
                  </a:txBody>
                  <a:tcPr marL="109728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567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See the surface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list_tables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Cheapest inventory</a:t>
                      </a:r>
                    </a:p>
                  </a:txBody>
                  <a:tcPr marL="109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567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Find relevant data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search_tables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Names + columns</a:t>
                      </a:r>
                    </a:p>
                  </a:txBody>
                  <a:tcPr marL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567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Inspect one schema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describe_table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No row payloads</a:t>
                      </a:r>
                    </a:p>
                  </a:txBody>
                  <a:tcPr marL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567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Learn shape + values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preview_table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Schema + sample</a:t>
                      </a:r>
                    </a:p>
                  </a:txBody>
                  <a:tcPr marL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567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Query one table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query_table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Validated, bounded</a:t>
                      </a:r>
                    </a:p>
                  </a:txBody>
                  <a:tcPr marL="1097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56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Join or advanced SQL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run_query</a:t>
                      </a:r>
                    </a:p>
                  </a:txBody>
                  <a:tcPr marL="109728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rPr dirty="0"/>
                        <a:t>Flexible, riskiest</a:t>
                      </a:r>
                    </a:p>
                  </a:txBody>
                  <a:tcPr marL="10972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650992"/>
            <a:ext cx="103784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F5F5F"/>
                </a:solidFill>
                <a:latin typeface="Aptos"/>
              </a:rPr>
              <a:t>Prefer the narrowest tool that answers the question.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Tool typing — args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058400" cy="4343400"/>
          </a:xfrm>
          <a:prstGeom prst="rect">
            <a:avLst/>
          </a:prstGeom>
          <a:solidFill>
            <a:srgbClr val="F7F7F7"/>
          </a:solidFill>
          <a:ln>
            <a:solidFill>
              <a:srgbClr val="E1E1E1"/>
            </a:solidFill>
          </a:ln>
        </p:spPr>
        <p:txBody>
          <a:bodyPr wrap="none" lIns="228600" tIns="182880">
            <a:spAutoFit/>
          </a:bodyPr>
          <a:lstStyle/>
          <a:p>
            <a:pPr>
              <a:defRPr sz="1800">
                <a:solidFill>
                  <a:srgbClr val="191919"/>
                </a:solidFill>
                <a:latin typeface="Aptos Mono"/>
              </a:defRPr>
            </a:pPr>
            <a:r>
              <a:t>type SearchProcessesArgs struct {</a:t>
            </a:r>
            <a:br/>
            <a:r>
              <a:t>  Executable  string `jsonschema:"Exact path match. No wildcards."`</a:t>
            </a:r>
            <a:br/>
            <a:r>
              <a:t>  CommandLine string `jsonschema:"Token search (OR), not substring."`</a:t>
            </a:r>
            <a:br/>
            <a:r>
              <a:t>  HashSHA256  string `jsonschema:"SHA256 for malware detection."`</a:t>
            </a:r>
            <a:br/>
            <a:r>
              <a:t>  // + ProcessName, Host, Start/End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2800" b="1" dirty="0">
                <a:solidFill>
                  <a:srgbClr val="191919"/>
                </a:solidFill>
                <a:latin typeface="Aptos"/>
              </a:rPr>
              <a:t>Guard Out</a:t>
            </a:r>
            <a:r>
              <a:rPr sz="2800" b="1" dirty="0">
                <a:solidFill>
                  <a:srgbClr val="191919"/>
                </a:solidFill>
                <a:latin typeface="Aptos"/>
              </a:rPr>
              <a:t> — bound the query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227320" cy="48408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Start read-only  and </a:t>
            </a:r>
            <a:r>
              <a:rPr lang="en-US" b="1" dirty="0"/>
              <a:t>restrict index and scope </a:t>
            </a:r>
            <a:r>
              <a:rPr lang="en-US" dirty="0"/>
              <a:t>to  prevent expensive, unbounded scans</a:t>
            </a:r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Use </a:t>
            </a:r>
            <a:r>
              <a:rPr lang="en-US" b="1" dirty="0"/>
              <a:t>aggregation queries </a:t>
            </a:r>
            <a:r>
              <a:rPr lang="en-US" dirty="0"/>
              <a:t>with sane defaults to </a:t>
            </a:r>
            <a:r>
              <a:rPr lang="en-US" b="1" dirty="0"/>
              <a:t>get the shape of the data </a:t>
            </a:r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dirty="0"/>
              <a:t>Require filter</a:t>
            </a:r>
            <a:r>
              <a:rPr lang="en-US" dirty="0"/>
              <a:t>s</a:t>
            </a:r>
            <a:r>
              <a:rPr dirty="0"/>
              <a:t> — and always bound the time range</a:t>
            </a:r>
            <a:r>
              <a:rPr lang="en-US" dirty="0"/>
              <a:t> (and mind storage tiers)</a:t>
            </a:r>
            <a:endParaRPr dirty="0"/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b="1" dirty="0"/>
              <a:t>Per-tool timeouts </a:t>
            </a:r>
            <a:r>
              <a:rPr dirty="0"/>
              <a:t>— surface partial results</a:t>
            </a:r>
            <a:r>
              <a:rPr lang="en-US" dirty="0"/>
              <a:t>, relative to data you need</a:t>
            </a:r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Implement </a:t>
            </a:r>
            <a:r>
              <a:rPr lang="en-US" b="1" dirty="0"/>
              <a:t>disk/memory caching </a:t>
            </a:r>
            <a:r>
              <a:rPr lang="en-US" dirty="0"/>
              <a:t>in the MCP server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4E77C1-30DE-ADEA-F43A-92E2B0D49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48" y="2018285"/>
            <a:ext cx="4959232" cy="34015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2800" b="1" dirty="0">
                <a:solidFill>
                  <a:srgbClr val="191919"/>
                </a:solidFill>
                <a:latin typeface="Aptos"/>
              </a:rPr>
              <a:t>Guard In</a:t>
            </a:r>
            <a:r>
              <a:rPr sz="2800" b="1" dirty="0">
                <a:solidFill>
                  <a:srgbClr val="191919"/>
                </a:solidFill>
                <a:latin typeface="Aptos"/>
              </a:rPr>
              <a:t> — bound the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227320" cy="410061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Cap rows and payloads returned to the LLM</a:t>
            </a:r>
            <a:endParaRPr dirty="0"/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Provide helpful error message to inform agent retry </a:t>
            </a:r>
            <a:endParaRPr dirty="0"/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dirty="0"/>
              <a:t>Export separately — paginate to files, never bulk JSON into context</a:t>
            </a:r>
            <a:r>
              <a:rPr lang="en-US" dirty="0"/>
              <a:t>, MCP supports async and progress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 dirty="0">
                <a:solidFill>
                  <a:srgbClr val="191919"/>
                </a:solidFill>
                <a:latin typeface="Aptos"/>
              </a:rPr>
              <a:t>E2E testing</a:t>
            </a:r>
            <a:r>
              <a:rPr lang="en-US" sz="2800" b="1" dirty="0">
                <a:solidFill>
                  <a:srgbClr val="191919"/>
                </a:solidFill>
                <a:latin typeface="Aptos"/>
              </a:rPr>
              <a:t> with Pydantic AI</a:t>
            </a:r>
            <a:endParaRPr sz="28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9140" y="2234039"/>
            <a:ext cx="3513546" cy="35998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Test across multiple Providers and Models</a:t>
            </a:r>
            <a:endParaRPr dirty="0"/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dirty="0"/>
              <a:t>Normalize model queries</a:t>
            </a:r>
            <a:r>
              <a:rPr lang="en-US" dirty="0"/>
              <a:t> and catch hallucinations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Test tool descriptions</a:t>
            </a:r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Easy integration with </a:t>
            </a:r>
            <a:r>
              <a:rPr lang="en-US" dirty="0" err="1"/>
              <a:t>Logfire</a:t>
            </a:r>
            <a:r>
              <a:rPr lang="en-US" dirty="0"/>
              <a:t> for token, turn, and exception monitoring</a:t>
            </a:r>
            <a:endParaRPr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4F3735-0A73-CE67-7DD4-722F53EFC7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38" b="14286"/>
          <a:stretch/>
        </p:blipFill>
        <p:spPr>
          <a:xfrm>
            <a:off x="4435022" y="2902986"/>
            <a:ext cx="6263095" cy="3429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F6D64-2173-8689-3C01-663A8B1CF3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47" b="37413"/>
          <a:stretch/>
        </p:blipFill>
        <p:spPr>
          <a:xfrm>
            <a:off x="6424930" y="1371600"/>
            <a:ext cx="5027930" cy="3245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Implement observability early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7614920" cy="4736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dirty="0"/>
              <a:t>Logs — one agent </a:t>
            </a:r>
            <a:r>
              <a:rPr lang="en-US" dirty="0"/>
              <a:t>(Claude) </a:t>
            </a:r>
            <a:r>
              <a:rPr dirty="0"/>
              <a:t>builds, another</a:t>
            </a:r>
            <a:r>
              <a:rPr lang="en-US" dirty="0"/>
              <a:t> (Codex) </a:t>
            </a:r>
            <a:r>
              <a:rPr dirty="0"/>
              <a:t> observes and gives feedback</a:t>
            </a:r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dirty="0"/>
              <a:t>Traces — exceptions and spans</a:t>
            </a:r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dirty="0"/>
              <a:t>Metrics — query latency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 dirty="0" err="1">
                <a:solidFill>
                  <a:srgbClr val="191919"/>
                </a:solidFill>
                <a:latin typeface="Aptos"/>
              </a:rPr>
              <a:t>Agentsview</a:t>
            </a:r>
            <a:r>
              <a:rPr lang="en-US" sz="2800" b="1" dirty="0">
                <a:solidFill>
                  <a:srgbClr val="191919"/>
                </a:solidFill>
                <a:latin typeface="Aptos"/>
              </a:rPr>
              <a:t> for On Box Analysis of Coding Agents</a:t>
            </a:r>
            <a:endParaRPr sz="28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80" y="1569220"/>
            <a:ext cx="2429156" cy="3547651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dirty="0"/>
              <a:t>Local agentic analytics for Claude, Codex, and </a:t>
            </a:r>
            <a:r>
              <a:rPr dirty="0" err="1"/>
              <a:t>OpenCode</a:t>
            </a:r>
            <a:r>
              <a:rPr lang="en-US" dirty="0"/>
              <a:t> sessions</a:t>
            </a:r>
            <a:endParaRPr dirty="0"/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dirty="0"/>
              <a:t>Tool sequence, arguments, and outcomes per task</a:t>
            </a:r>
            <a:endParaRPr lang="en-US" dirty="0"/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Export sessions along your .git history to track </a:t>
            </a:r>
            <a:r>
              <a:rPr lang="en-US" dirty="0" err="1"/>
              <a:t>improvent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103784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 dirty="0">
                <a:solidFill>
                  <a:srgbClr val="5F5F5F"/>
                </a:solidFill>
                <a:latin typeface="Aptos"/>
                <a:hlinkClick r:id="rId2"/>
              </a:rPr>
              <a:t>https://github.com/kenn-io/agentsview</a:t>
            </a:r>
            <a:r>
              <a:rPr lang="en-US" sz="1500" b="0" dirty="0">
                <a:solidFill>
                  <a:srgbClr val="5F5F5F"/>
                </a:solidFill>
                <a:latin typeface="Aptos"/>
              </a:rPr>
              <a:t>  or </a:t>
            </a:r>
            <a:r>
              <a:rPr lang="en-US" sz="1500" b="0" dirty="0">
                <a:solidFill>
                  <a:srgbClr val="5F5F5F"/>
                </a:solidFill>
                <a:latin typeface="Aptos"/>
                <a:hlinkClick r:id="rId3"/>
              </a:rPr>
              <a:t>https://agenstview.io</a:t>
            </a:r>
            <a:r>
              <a:rPr lang="en-US" sz="1500" b="0" dirty="0">
                <a:solidFill>
                  <a:srgbClr val="5F5F5F"/>
                </a:solidFill>
                <a:latin typeface="Aptos"/>
              </a:rPr>
              <a:t> </a:t>
            </a:r>
            <a:endParaRPr sz="1500" b="0" dirty="0">
              <a:solidFill>
                <a:srgbClr val="5F5F5F"/>
              </a:solidFill>
              <a:latin typeface="Apto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60070C-A1B4-18C0-C49D-64FF08A4F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203681"/>
            <a:ext cx="7772400" cy="40373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 dirty="0" err="1">
                <a:solidFill>
                  <a:srgbClr val="191919"/>
                </a:solidFill>
                <a:latin typeface="Aptos"/>
              </a:rPr>
              <a:t>Logfire</a:t>
            </a:r>
            <a:r>
              <a:rPr lang="en-US" sz="2800" b="1" dirty="0">
                <a:solidFill>
                  <a:srgbClr val="191919"/>
                </a:solidFill>
                <a:latin typeface="Aptos"/>
              </a:rPr>
              <a:t> for Agent and MCP Observability!</a:t>
            </a:r>
            <a:endParaRPr sz="28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8975" y="1382572"/>
            <a:ext cx="2923831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dirty="0" err="1"/>
              <a:t>OpenTelemetry</a:t>
            </a:r>
            <a:r>
              <a:rPr dirty="0"/>
              <a:t> traces across model calls, tool calls, and spans</a:t>
            </a:r>
            <a:endParaRPr lang="en-US" dirty="0"/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Drop in </a:t>
            </a:r>
            <a:r>
              <a:rPr lang="en-US" dirty="0" err="1"/>
              <a:t>librarires</a:t>
            </a:r>
            <a:r>
              <a:rPr lang="en-US" dirty="0"/>
              <a:t> for most frameworks—and infra too!</a:t>
            </a:r>
            <a:endParaRPr dirty="0"/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dirty="0" err="1"/>
              <a:t>Queryable</a:t>
            </a:r>
            <a:r>
              <a:rPr dirty="0"/>
              <a:t> after the fact, with a built-in 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53328"/>
            <a:ext cx="103784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 dirty="0">
                <a:solidFill>
                  <a:srgbClr val="5F5F5F"/>
                </a:solidFill>
                <a:latin typeface="Aptos"/>
                <a:hlinkClick r:id="rId2"/>
              </a:rPr>
              <a:t>https://pydantic.dev/logfire</a:t>
            </a:r>
            <a:r>
              <a:rPr lang="en-US" sz="1500" b="0" dirty="0">
                <a:solidFill>
                  <a:srgbClr val="5F5F5F"/>
                </a:solidFill>
                <a:latin typeface="Aptos"/>
              </a:rPr>
              <a:t> </a:t>
            </a:r>
            <a:endParaRPr sz="1500" b="0" dirty="0">
              <a:solidFill>
                <a:srgbClr val="5F5F5F"/>
              </a:solidFill>
              <a:latin typeface="Apto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7BE6C-F868-73C4-D713-AA6AF7BFF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485" y="1449070"/>
            <a:ext cx="79215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 dirty="0">
                <a:solidFill>
                  <a:srgbClr val="191919"/>
                </a:solidFill>
                <a:latin typeface="Aptos"/>
              </a:rPr>
              <a:t>For more info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736836" cy="45402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b="1" dirty="0" err="1"/>
              <a:t>osqueryi-mcp</a:t>
            </a:r>
            <a:r>
              <a:rPr dirty="0"/>
              <a:t> — starter server, smoke harnesses, framework examples</a:t>
            </a:r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b="1" dirty="0"/>
              <a:t>elastic-security-</a:t>
            </a:r>
            <a:r>
              <a:rPr b="1" dirty="0" err="1"/>
              <a:t>mcp</a:t>
            </a:r>
            <a:r>
              <a:rPr dirty="0"/>
              <a:t> — structured tools, raw DSL fallback, caching, export</a:t>
            </a:r>
          </a:p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r>
              <a:rPr b="1" dirty="0"/>
              <a:t>mcp-threat-hunt-aug-2026</a:t>
            </a:r>
            <a:r>
              <a:rPr dirty="0"/>
              <a:t> — the long-form companion talk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942E3-8AAB-2CAA-7847-A58EB0F0DAF6}"/>
              </a:ext>
            </a:extLst>
          </p:cNvPr>
          <p:cNvSpPr txBox="1"/>
          <p:nvPr/>
        </p:nvSpPr>
        <p:spPr>
          <a:xfrm>
            <a:off x="685800" y="5879055"/>
            <a:ext cx="5778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https://github.com/mdfranz/dc-state-of-stack-2026-go-mcp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03EC5A-A960-7F0C-DCF8-B61C1E9F6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429" y="1296616"/>
            <a:ext cx="4691451" cy="48609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CDA83-97A4-1FE3-D98A-1198A720E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C0EDD-AF99-0750-492D-AD4D3243E50D}"/>
              </a:ext>
            </a:extLst>
          </p:cNvPr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en-US" sz="2800" b="1" dirty="0">
                <a:solidFill>
                  <a:srgbClr val="191919"/>
                </a:solidFill>
                <a:latin typeface="Aptos"/>
              </a:rPr>
              <a:t>Takeaways and Thank You!</a:t>
            </a:r>
            <a:endParaRPr sz="28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806A94-E5FB-6899-82F2-91F1725C167A}"/>
              </a:ext>
            </a:extLst>
          </p:cNvPr>
          <p:cNvSpPr/>
          <p:nvPr/>
        </p:nvSpPr>
        <p:spPr>
          <a:xfrm>
            <a:off x="685800" y="1024128"/>
            <a:ext cx="1083564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F77DD-0281-DC74-F006-A39698BFC0B0}"/>
              </a:ext>
            </a:extLst>
          </p:cNvPr>
          <p:cNvSpPr txBox="1"/>
          <p:nvPr/>
        </p:nvSpPr>
        <p:spPr>
          <a:xfrm>
            <a:off x="11292840" y="6419088"/>
            <a:ext cx="3200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ptos"/>
              </a:rPr>
              <a:t>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02CF7-046C-D22A-7B90-A7063E842204}"/>
              </a:ext>
            </a:extLst>
          </p:cNvPr>
          <p:cNvSpPr txBox="1"/>
          <p:nvPr/>
        </p:nvSpPr>
        <p:spPr>
          <a:xfrm>
            <a:off x="868680" y="1371600"/>
            <a:ext cx="5736836" cy="45402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191919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497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251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989</Words>
  <Application>Microsoft Macintosh PowerPoint</Application>
  <PresentationFormat>Widescreen</PresentationFormat>
  <Paragraphs>135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Go-ing Fast with MCP</dc:title>
  <dc:subject>DC State of the Stack 2026</dc:subject>
  <dc:creator>Matthew Franz</dc:creator>
  <cp:keywords/>
  <dc:description>generated using python-pptx</dc:description>
  <cp:lastModifiedBy>Matthew Franz</cp:lastModifiedBy>
  <cp:revision>6</cp:revision>
  <dcterms:created xsi:type="dcterms:W3CDTF">2013-01-27T09:14:16Z</dcterms:created>
  <dcterms:modified xsi:type="dcterms:W3CDTF">2026-09-16T00:54:00Z</dcterms:modified>
  <cp:category/>
</cp:coreProperties>
</file>